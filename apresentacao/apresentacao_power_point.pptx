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59" r:id="rId10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2190"/>
    <a:srgbClr val="E3F1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D3E1FA-4FE8-4F33-995D-B5E39AD75A4E}" v="24" dt="2026-09-16T12:36:09.9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- Claro" type="blank">
  <p:cSld name="BLANK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 - Claro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Albert Sans"/>
              <a:buNone/>
              <a:defRPr sz="43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24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- Claro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48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45875" y="230200"/>
            <a:ext cx="7818000" cy="13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702350" y="1688325"/>
            <a:ext cx="7766400" cy="24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3 - Claro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269625"/>
            <a:ext cx="8520600" cy="3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2 - Claro">
  <p:cSld name="BLANK_2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colunas - Claro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686600"/>
            <a:ext cx="3924300" cy="3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889400" y="756375"/>
            <a:ext cx="39243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ês colunas - Claro">
  <p:cSld name="TITLE_ONLY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8"/>
          <p:cNvSpPr txBox="1">
            <a:spLocks noGrp="1"/>
          </p:cNvSpPr>
          <p:nvPr>
            <p:ph type="body" idx="1"/>
          </p:nvPr>
        </p:nvSpPr>
        <p:spPr>
          <a:xfrm>
            <a:off x="229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2"/>
          </p:nvPr>
        </p:nvSpPr>
        <p:spPr>
          <a:xfrm>
            <a:off x="3277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3"/>
          </p:nvPr>
        </p:nvSpPr>
        <p:spPr>
          <a:xfrm>
            <a:off x="6325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vre - Claro">
  <p:cSld name="TITLE_ONLY_1_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540150" y="538950"/>
            <a:ext cx="8063700" cy="40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- Escuro">
  <p:cSld name="BLANK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41" name="Google Shape;41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subtítulo - Escuro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44" name="Google Shape;4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>
            <a:spLocks noGrp="1"/>
          </p:cNvSpPr>
          <p:nvPr>
            <p:ph type="ctrTitle" idx="2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lbert Sans"/>
              <a:buNone/>
              <a:defRPr sz="43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bert Sans"/>
              <a:buNone/>
              <a:defRPr sz="24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- Escuro">
  <p:cSld name="MAIN_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745875" y="230200"/>
            <a:ext cx="7818000" cy="1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>
            <a:off x="702350" y="1688325"/>
            <a:ext cx="7766400" cy="24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3 - Escuro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lbert Sans"/>
              <a:buNone/>
              <a:defRPr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311700" y="1269625"/>
            <a:ext cx="8520600" cy="3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colunas - Escuro">
  <p:cSld name="BIG_NUMBER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311700" y="1432500"/>
            <a:ext cx="3924300" cy="22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lbert Sans"/>
              <a:buNone/>
              <a:defRPr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4889400" y="756375"/>
            <a:ext cx="39243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ês colunas - Escuro">
  <p:cSld name="BIG_NUMBER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229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2"/>
          </p:nvPr>
        </p:nvSpPr>
        <p:spPr>
          <a:xfrm>
            <a:off x="3277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3"/>
          </p:nvPr>
        </p:nvSpPr>
        <p:spPr>
          <a:xfrm>
            <a:off x="6325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vre - Escuro">
  <p:cSld name="BIG_NUMBER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540150" y="538950"/>
            <a:ext cx="8063700" cy="40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2 - Escuro">
  <p:cSld name="BLANK_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- Claro" type="tx">
  <p:cSld name="TITLE_AND_BOD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8"/>
          <p:cNvSpPr txBox="1">
            <a:spLocks noGrp="1"/>
          </p:cNvSpPr>
          <p:nvPr>
            <p:ph type="title"/>
          </p:nvPr>
        </p:nvSpPr>
        <p:spPr>
          <a:xfrm>
            <a:off x="699850" y="709050"/>
            <a:ext cx="7698300" cy="1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Albert Sans"/>
              <a:buNone/>
              <a:defRPr sz="3300"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ubTitle" idx="1"/>
          </p:nvPr>
        </p:nvSpPr>
        <p:spPr>
          <a:xfrm>
            <a:off x="699850" y="3272450"/>
            <a:ext cx="7698300" cy="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- Escuro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699850" y="709050"/>
            <a:ext cx="7698300" cy="1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lbert Sans"/>
              <a:buNone/>
              <a:defRPr sz="33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ubTitle" idx="1"/>
          </p:nvPr>
        </p:nvSpPr>
        <p:spPr>
          <a:xfrm>
            <a:off x="699850" y="3272450"/>
            <a:ext cx="7698300" cy="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abrielcajado/trabalhoGrafos/blob/7c02441b9ad5e53209e363a66251309602c8e1d4/src/Main.java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abrielcajado/trabalhoGrafos/blob/323daf989567dd82a5fbafd760f3abb7c84c1e20/evidencias/acceptedBeecrowd.PNG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rPr lang="pt-BR" b="1" dirty="0"/>
              <a:t>Movimentos do Cavalo</a:t>
            </a:r>
            <a:endParaRPr lang="pt-BR" dirty="0"/>
          </a:p>
        </p:txBody>
      </p:sp>
      <p:sp>
        <p:nvSpPr>
          <p:cNvPr id="87" name="Google Shape;87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7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indent="0">
              <a:lnSpc>
                <a:spcPct val="80000"/>
              </a:lnSpc>
            </a:pPr>
            <a:r>
              <a:rPr lang="pt-BR" sz="2000" dirty="0"/>
              <a:t>Grupo H - Problema F</a:t>
            </a:r>
            <a:endParaRPr lang="pt-BR"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000"/>
          </a:p>
          <a:p>
            <a:pPr marL="0" marR="146050" indent="0" algn="r">
              <a:lnSpc>
                <a:spcPct val="80000"/>
              </a:lnSpc>
            </a:pPr>
            <a:r>
              <a:rPr lang="pt-BR" sz="1400" b="1" i="1" dirty="0"/>
              <a:t>Alunos: Erick Macedo - 2518801</a:t>
            </a:r>
            <a:endParaRPr sz="1400" b="1" i="1" dirty="0"/>
          </a:p>
          <a:p>
            <a:pPr marL="0" marR="146050" indent="0" algn="r">
              <a:lnSpc>
                <a:spcPct val="80000"/>
              </a:lnSpc>
            </a:pPr>
            <a:r>
              <a:rPr lang="pt-BR" sz="1400" b="1" i="1" dirty="0"/>
              <a:t>Gabriel Cajado – 2420382</a:t>
            </a:r>
          </a:p>
          <a:p>
            <a:pPr marL="0" marR="146050" indent="0" algn="r">
              <a:lnSpc>
                <a:spcPct val="80000"/>
              </a:lnSpc>
            </a:pPr>
            <a:r>
              <a:rPr lang="pt-BR" sz="1400" b="1" i="1" dirty="0"/>
              <a:t>Henrique Varela - 2420507</a:t>
            </a:r>
          </a:p>
          <a:p>
            <a:pPr marL="0" marR="14605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i="1" dirty="0"/>
              <a:t>Orientador: Prof. Me. Ricardo Carubbi</a:t>
            </a:r>
            <a:endParaRPr sz="1400" i="1" dirty="0"/>
          </a:p>
          <a:p>
            <a:pPr marL="0" marR="14605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i="1" dirty="0"/>
              <a:t>Disciplina: Métodos Quantitativos</a:t>
            </a:r>
            <a:endParaRPr sz="1400" i="1" dirty="0"/>
          </a:p>
          <a:p>
            <a:pPr marL="0" marR="14605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i="1" dirty="0"/>
              <a:t>Centro de Ciências Tecnológicas - CCT</a:t>
            </a:r>
            <a:endParaRPr sz="1400" i="1" dirty="0"/>
          </a:p>
          <a:p>
            <a:pPr marL="0" marR="14605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i="1" dirty="0"/>
              <a:t>Universidade de Fortaleza - UNIFOR</a:t>
            </a:r>
            <a:endParaRPr sz="1400" i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>
            <a:spLocks noGrp="1"/>
          </p:cNvSpPr>
          <p:nvPr>
            <p:ph type="title"/>
          </p:nvPr>
        </p:nvSpPr>
        <p:spPr>
          <a:xfrm>
            <a:off x="745875" y="230200"/>
            <a:ext cx="7818000" cy="12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85000"/>
              </a:lnSpc>
              <a:buSzPts val="3150"/>
            </a:pPr>
            <a:r>
              <a:rPr lang="pt-BR" sz="2850" b="1" dirty="0"/>
              <a:t>Movimentos do Cavalo</a:t>
            </a:r>
            <a:endParaRPr sz="2850" b="1" dirty="0"/>
          </a:p>
          <a:p>
            <a:pPr>
              <a:lnSpc>
                <a:spcPct val="80000"/>
              </a:lnSpc>
              <a:buClr>
                <a:srgbClr val="000000"/>
              </a:buClr>
              <a:buSzPts val="2400"/>
            </a:pPr>
            <a:r>
              <a:rPr lang="pt-BR" sz="1900" dirty="0">
                <a:solidFill>
                  <a:schemeClr val="dk2"/>
                </a:solidFill>
              </a:rPr>
              <a:t>Grupo H - Problema F</a:t>
            </a:r>
            <a:endParaRPr sz="1900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150"/>
              <a:buNone/>
            </a:pPr>
            <a:endParaRPr sz="2450"/>
          </a:p>
        </p:txBody>
      </p:sp>
      <p:sp>
        <p:nvSpPr>
          <p:cNvPr id="93" name="Google Shape;93;p22"/>
          <p:cNvSpPr txBox="1">
            <a:spLocks noGrp="1"/>
          </p:cNvSpPr>
          <p:nvPr>
            <p:ph type="body" idx="1"/>
          </p:nvPr>
        </p:nvSpPr>
        <p:spPr>
          <a:xfrm>
            <a:off x="702350" y="1688325"/>
            <a:ext cx="7766400" cy="27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2000" b="1" dirty="0"/>
              <a:t>Agenda</a:t>
            </a:r>
            <a:endParaRPr sz="2000" b="1"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dirty="0"/>
              <a:t>Problema;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dirty="0"/>
              <a:t>Modelagem;</a:t>
            </a:r>
            <a:endParaRPr dirty="0"/>
          </a:p>
          <a:p>
            <a:r>
              <a:rPr lang="pt-BR" dirty="0"/>
              <a:t>Representação Computacional;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dirty="0"/>
              <a:t>DFS;</a:t>
            </a:r>
            <a:endParaRPr dirty="0"/>
          </a:p>
          <a:p>
            <a:r>
              <a:rPr lang="pt-BR" dirty="0"/>
              <a:t>BFS;</a:t>
            </a:r>
          </a:p>
          <a:p>
            <a:pPr marL="457200" lvl="0" indent="-34290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dirty="0"/>
              <a:t>Validação;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dirty="0"/>
              <a:t>Conclusão.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F8C2EA-38B0-BE38-3880-53B50087F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7F1666-B187-54FB-A7A8-DFCB85D6D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6693" y="842639"/>
            <a:ext cx="4463450" cy="3457800"/>
          </a:xfrm>
        </p:spPr>
        <p:txBody>
          <a:bodyPr/>
          <a:lstStyle/>
          <a:p>
            <a:r>
              <a:rPr lang="pt-BR" dirty="0"/>
              <a:t>Tabuleiro </a:t>
            </a:r>
            <a:r>
              <a:rPr lang="pt-BR" b="1" dirty="0"/>
              <a:t>8x8</a:t>
            </a:r>
            <a:r>
              <a:rPr lang="pt-BR" dirty="0"/>
              <a:t>;</a:t>
            </a:r>
          </a:p>
          <a:p>
            <a:pPr>
              <a:lnSpc>
                <a:spcPct val="114999"/>
              </a:lnSpc>
            </a:pPr>
            <a:r>
              <a:rPr lang="pt-BR" dirty="0"/>
              <a:t>Entrada: </a:t>
            </a:r>
            <a:r>
              <a:rPr lang="pt-BR" b="1" dirty="0"/>
              <a:t>casa de origem + casa de destino</a:t>
            </a:r>
            <a:r>
              <a:rPr lang="pt-BR" dirty="0"/>
              <a:t>;</a:t>
            </a:r>
          </a:p>
          <a:p>
            <a:pPr>
              <a:lnSpc>
                <a:spcPct val="114999"/>
              </a:lnSpc>
            </a:pPr>
            <a:r>
              <a:rPr lang="pt-BR" dirty="0"/>
              <a:t>Objetivo: encontrar o </a:t>
            </a:r>
            <a:r>
              <a:rPr lang="pt-BR" b="1" dirty="0"/>
              <a:t>menor número de movimentos</a:t>
            </a:r>
            <a:r>
              <a:rPr lang="pt-BR" dirty="0"/>
              <a:t>;</a:t>
            </a:r>
          </a:p>
          <a:p>
            <a:pPr>
              <a:lnSpc>
                <a:spcPct val="114999"/>
              </a:lnSpc>
            </a:pPr>
            <a:r>
              <a:rPr lang="pt-BR" dirty="0"/>
              <a:t>Movimentos do cavalo: </a:t>
            </a:r>
            <a:r>
              <a:rPr lang="pt-BR" b="1" dirty="0"/>
              <a:t>2 casas + 1 casa perpendicular</a:t>
            </a:r>
            <a:r>
              <a:rPr lang="pt-BR" dirty="0"/>
              <a:t>;</a:t>
            </a:r>
          </a:p>
          <a:p>
            <a:pPr>
              <a:lnSpc>
                <a:spcPct val="114999"/>
              </a:lnSpc>
            </a:pPr>
            <a:r>
              <a:rPr lang="pt-BR" dirty="0"/>
              <a:t>Cada movimento possui </a:t>
            </a:r>
            <a:r>
              <a:rPr lang="pt-BR" b="1" dirty="0"/>
              <a:t>custo 1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26814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9268D9AA-3D06-AC9D-3233-C8390927B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0" indent="0">
              <a:lnSpc>
                <a:spcPct val="114999"/>
              </a:lnSpc>
              <a:buNone/>
            </a:pPr>
            <a:r>
              <a:rPr lang="pt-BR" sz="2800" b="1" dirty="0">
                <a:solidFill>
                  <a:srgbClr val="004AF7"/>
                </a:solidFill>
              </a:rPr>
              <a:t>Modelagem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C8172C-493E-0CF4-87B9-223D108150D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CBCF8BE-6AFE-9FFA-84D0-4B88ECFDDCA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pt-BR" b="1" dirty="0"/>
              <a:t>Vértices:</a:t>
            </a:r>
            <a:r>
              <a:rPr lang="pt-BR" dirty="0"/>
              <a:t> 64 casas do tabuleiro;</a:t>
            </a:r>
          </a:p>
          <a:p>
            <a:pPr>
              <a:lnSpc>
                <a:spcPct val="114999"/>
              </a:lnSpc>
            </a:pPr>
            <a:r>
              <a:rPr lang="pt-BR" b="1" dirty="0"/>
              <a:t>Arestas:</a:t>
            </a:r>
            <a:r>
              <a:rPr lang="pt-BR" dirty="0"/>
              <a:t> movimentos válidos do cavalo;</a:t>
            </a:r>
          </a:p>
          <a:p>
            <a:pPr>
              <a:lnSpc>
                <a:spcPct val="114999"/>
              </a:lnSpc>
            </a:pPr>
            <a:r>
              <a:rPr lang="pt-BR" b="1" dirty="0"/>
              <a:t>Grafo:</a:t>
            </a:r>
            <a:r>
              <a:rPr lang="pt-BR" dirty="0"/>
              <a:t> não direcionado e não ponderado;</a:t>
            </a:r>
          </a:p>
          <a:p>
            <a:pPr>
              <a:lnSpc>
                <a:spcPct val="114999"/>
              </a:lnSpc>
            </a:pPr>
            <a:r>
              <a:rPr lang="pt-BR" b="1" dirty="0"/>
              <a:t>Objetivo:</a:t>
            </a:r>
            <a:r>
              <a:rPr lang="pt-BR" dirty="0"/>
              <a:t> menor caminho entre origem e destino.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CF73591-80AA-3962-B13F-EBA5D3DF8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037" y="668547"/>
            <a:ext cx="2577143" cy="363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057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AE13F-9B3B-4671-725B-53CCF9956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Representação Computacional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08919B-92FA-6572-3861-C0689932A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4999"/>
              </a:lnSpc>
            </a:pPr>
            <a:r>
              <a:rPr lang="pt-BR" dirty="0">
                <a:latin typeface="Consolas"/>
                <a:hlinkClick r:id="rId2"/>
              </a:rPr>
              <a:t>Código Fonte em Java</a:t>
            </a:r>
            <a:r>
              <a:rPr lang="pt-BR" dirty="0">
                <a:latin typeface="Consolas"/>
              </a:rPr>
              <a:t> </a:t>
            </a:r>
            <a:endParaRPr lang="pt-BR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982958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: Canto Dobrado 11">
            <a:extLst>
              <a:ext uri="{FF2B5EF4-FFF2-40B4-BE49-F238E27FC236}">
                <a16:creationId xmlns:a16="http://schemas.microsoft.com/office/drawing/2014/main" id="{D55E7B7A-813D-7A78-7F90-854627A69BD5}"/>
              </a:ext>
            </a:extLst>
          </p:cNvPr>
          <p:cNvSpPr/>
          <p:nvPr/>
        </p:nvSpPr>
        <p:spPr>
          <a:xfrm>
            <a:off x="2266922" y="4457810"/>
            <a:ext cx="4560940" cy="495189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6FA78F-4D63-0C0E-149D-62AD3A43E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740515"/>
            <a:ext cx="3924300" cy="567844"/>
          </a:xfrm>
        </p:spPr>
        <p:txBody>
          <a:bodyPr>
            <a:normAutofit fontScale="90000"/>
          </a:bodyPr>
          <a:lstStyle/>
          <a:p>
            <a:r>
              <a:rPr lang="pt-BR" dirty="0"/>
              <a:t>DFS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48A05C-CDC1-F8CA-F995-AEB7AAB65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4999"/>
              </a:lnSpc>
            </a:pPr>
            <a:r>
              <a:rPr lang="pt-BR" dirty="0"/>
              <a:t>Explora por níveis;</a:t>
            </a:r>
            <a:endParaRPr lang="pt-BR"/>
          </a:p>
          <a:p>
            <a:pPr>
              <a:lnSpc>
                <a:spcPct val="114999"/>
              </a:lnSpc>
            </a:pPr>
            <a:r>
              <a:rPr lang="pt-BR" dirty="0"/>
              <a:t>Verifica alcançabilidade;</a:t>
            </a:r>
            <a:endParaRPr lang="pt-BR"/>
          </a:p>
          <a:p>
            <a:pPr>
              <a:lnSpc>
                <a:spcPct val="114999"/>
              </a:lnSpc>
            </a:pPr>
            <a:r>
              <a:rPr lang="pt-BR" dirty="0"/>
              <a:t>Garante menor caminho em grafo não ponderado;</a:t>
            </a:r>
            <a:endParaRPr lang="pt-BR"/>
          </a:p>
          <a:p>
            <a:pPr>
              <a:lnSpc>
                <a:spcPct val="114999"/>
              </a:lnSpc>
            </a:pPr>
            <a:r>
              <a:rPr lang="pt-BR" b="1" dirty="0"/>
              <a:t>Escolhida.</a:t>
            </a:r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89756E9-CEC3-E864-E1F9-9CB24BD2D670}"/>
              </a:ext>
            </a:extLst>
          </p:cNvPr>
          <p:cNvSpPr txBox="1"/>
          <p:nvPr/>
        </p:nvSpPr>
        <p:spPr>
          <a:xfrm>
            <a:off x="4884708" y="749420"/>
            <a:ext cx="4572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b="1" dirty="0">
                <a:solidFill>
                  <a:srgbClr val="004AF7"/>
                </a:solidFill>
                <a:latin typeface="Albert Sans"/>
              </a:rPr>
              <a:t>BFS</a:t>
            </a:r>
          </a:p>
          <a:p>
            <a:pPr algn="ctr"/>
            <a:endParaRPr lang="pt-BR"/>
          </a:p>
        </p:txBody>
      </p:sp>
      <p:sp>
        <p:nvSpPr>
          <p:cNvPr id="7" name="Espaço Reservado para Texto 2">
            <a:extLst>
              <a:ext uri="{FF2B5EF4-FFF2-40B4-BE49-F238E27FC236}">
                <a16:creationId xmlns:a16="http://schemas.microsoft.com/office/drawing/2014/main" id="{8C24F5A0-E140-8F7D-C1AE-5693A4D11700}"/>
              </a:ext>
            </a:extLst>
          </p:cNvPr>
          <p:cNvSpPr txBox="1">
            <a:spLocks/>
          </p:cNvSpPr>
          <p:nvPr/>
        </p:nvSpPr>
        <p:spPr>
          <a:xfrm>
            <a:off x="308055" y="736247"/>
            <a:ext cx="39243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lbert Sans"/>
              <a:buChar char="●"/>
              <a:defRPr sz="16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lbert Sans"/>
              <a:buChar char="●"/>
              <a:defRPr sz="12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lbert Sans"/>
              <a:buChar char="○"/>
              <a:defRPr sz="12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lbert Sans"/>
              <a:buChar char="■"/>
              <a:defRPr sz="12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>
              <a:lnSpc>
                <a:spcPct val="114999"/>
              </a:lnSpc>
            </a:pPr>
            <a:r>
              <a:rPr lang="pt-BR" dirty="0">
                <a:solidFill>
                  <a:srgbClr val="E3F1FD"/>
                </a:solidFill>
              </a:rPr>
              <a:t>Explora em profundidade;</a:t>
            </a:r>
          </a:p>
          <a:p>
            <a:pPr>
              <a:lnSpc>
                <a:spcPct val="114999"/>
              </a:lnSpc>
            </a:pPr>
            <a:r>
              <a:rPr lang="pt-BR" dirty="0">
                <a:solidFill>
                  <a:srgbClr val="E3F1FD"/>
                </a:solidFill>
              </a:rPr>
              <a:t>Verifica alcançabilidade;</a:t>
            </a:r>
          </a:p>
          <a:p>
            <a:pPr>
              <a:lnSpc>
                <a:spcPct val="114999"/>
              </a:lnSpc>
            </a:pPr>
            <a:r>
              <a:rPr lang="pt-BR" dirty="0">
                <a:solidFill>
                  <a:srgbClr val="E3F1FD"/>
                </a:solidFill>
              </a:rPr>
              <a:t>Não garante menor caminho;</a:t>
            </a:r>
          </a:p>
          <a:p>
            <a:pPr>
              <a:lnSpc>
                <a:spcPct val="114999"/>
              </a:lnSpc>
            </a:pPr>
            <a:r>
              <a:rPr lang="pt-BR" b="1" dirty="0">
                <a:solidFill>
                  <a:srgbClr val="E3F1FD"/>
                </a:solidFill>
              </a:rPr>
              <a:t>Não escolhida.</a:t>
            </a:r>
            <a:endParaRPr lang="pt-BR" dirty="0">
              <a:solidFill>
                <a:srgbClr val="E3F1FD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FC4398E-07E3-BC45-DB45-23E7D80E5C12}"/>
              </a:ext>
            </a:extLst>
          </p:cNvPr>
          <p:cNvSpPr txBox="1"/>
          <p:nvPr/>
        </p:nvSpPr>
        <p:spPr>
          <a:xfrm>
            <a:off x="2275217" y="4469562"/>
            <a:ext cx="4572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200" b="1" i="1" dirty="0">
                <a:solidFill>
                  <a:srgbClr val="132190"/>
                </a:solidFill>
                <a:latin typeface="Albert Sans"/>
              </a:rPr>
              <a:t>Por quê? </a:t>
            </a:r>
            <a:r>
              <a:rPr lang="pt-BR" sz="1200" dirty="0">
                <a:solidFill>
                  <a:srgbClr val="132190"/>
                </a:solidFill>
                <a:latin typeface="Albert Sans"/>
              </a:rPr>
              <a:t>Pois todos os movimentos possuem custo 1 e BFS encontra a menor distância em número de movimentos.</a:t>
            </a:r>
            <a:endParaRPr lang="pt-BR" sz="1200"/>
          </a:p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492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78CE86-B596-380A-2DDC-A7C11853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Validação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AB8680-3C65-5522-D943-BADCCCB269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4999"/>
              </a:lnSpc>
            </a:pPr>
            <a:r>
              <a:rPr lang="pt-BR" b="1" dirty="0"/>
              <a:t>Representação:</a:t>
            </a:r>
            <a:r>
              <a:rPr lang="pt-BR" dirty="0"/>
              <a:t> grafo implícito</a:t>
            </a:r>
          </a:p>
          <a:p>
            <a:pPr>
              <a:lnSpc>
                <a:spcPct val="114999"/>
              </a:lnSpc>
            </a:pPr>
            <a:r>
              <a:rPr lang="pt-BR" b="1" dirty="0"/>
              <a:t>Algoritmo:</a:t>
            </a:r>
            <a:r>
              <a:rPr lang="pt-BR" dirty="0"/>
              <a:t> BFS</a:t>
            </a:r>
          </a:p>
          <a:p>
            <a:pPr>
              <a:lnSpc>
                <a:spcPct val="114999"/>
              </a:lnSpc>
            </a:pPr>
            <a:r>
              <a:rPr lang="pt-BR" b="1" dirty="0"/>
              <a:t>Distância:</a:t>
            </a:r>
            <a:r>
              <a:rPr lang="pt-BR" dirty="0"/>
              <a:t> menor número de movimentos entre origem e destino</a:t>
            </a:r>
          </a:p>
          <a:p>
            <a:pPr>
              <a:lnSpc>
                <a:spcPct val="114999"/>
              </a:lnSpc>
            </a:pPr>
            <a:r>
              <a:rPr lang="pt-BR" b="1" dirty="0"/>
              <a:t>Testes:</a:t>
            </a:r>
            <a:r>
              <a:rPr lang="pt-BR" dirty="0"/>
              <a:t> diferentes pares de origem e destino</a:t>
            </a:r>
          </a:p>
          <a:p>
            <a:pPr>
              <a:lnSpc>
                <a:spcPct val="114999"/>
              </a:lnSpc>
            </a:pPr>
            <a:r>
              <a:rPr lang="pt-BR" b="1" dirty="0"/>
              <a:t>Submissão:</a:t>
            </a:r>
            <a:r>
              <a:rPr lang="pt-BR" dirty="0"/>
              <a:t> Beecrowd 1100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7A3E485-6566-2B37-B078-1F20FB12C6F6}"/>
              </a:ext>
            </a:extLst>
          </p:cNvPr>
          <p:cNvSpPr txBox="1">
            <a:spLocks/>
          </p:cNvSpPr>
          <p:nvPr/>
        </p:nvSpPr>
        <p:spPr>
          <a:xfrm>
            <a:off x="310235" y="319115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bert Sans"/>
              <a:buNone/>
              <a:defRPr sz="28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2500" dirty="0" err="1"/>
              <a:t>Accepted</a:t>
            </a:r>
            <a:r>
              <a:rPr lang="pt-BR" sz="2500" dirty="0"/>
              <a:t> – </a:t>
            </a:r>
            <a:r>
              <a:rPr lang="pt-BR" sz="2500" dirty="0" err="1"/>
              <a:t>Beecrowd</a:t>
            </a:r>
            <a:r>
              <a:rPr lang="pt-BR" sz="2500" dirty="0"/>
              <a:t> 1100</a:t>
            </a:r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F9994B06-22FD-8F40-C776-FC9CB516BFF3}"/>
              </a:ext>
            </a:extLst>
          </p:cNvPr>
          <p:cNvSpPr txBox="1">
            <a:spLocks/>
          </p:cNvSpPr>
          <p:nvPr/>
        </p:nvSpPr>
        <p:spPr>
          <a:xfrm>
            <a:off x="313287" y="3763588"/>
            <a:ext cx="4083538" cy="99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lbert Sans"/>
              <a:buChar char="●"/>
              <a:defRPr sz="18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2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>
              <a:lnSpc>
                <a:spcPct val="114999"/>
              </a:lnSpc>
            </a:pPr>
            <a:r>
              <a:rPr lang="pt-BR" dirty="0">
                <a:solidFill>
                  <a:schemeClr val="bg2"/>
                </a:solidFill>
                <a:latin typeface="Consolas"/>
                <a:hlinkClick r:id="rId2"/>
              </a:rPr>
              <a:t>Evidência da Submissão</a:t>
            </a:r>
            <a:endParaRPr lang="pt-BR" dirty="0">
              <a:solidFill>
                <a:schemeClr val="bg2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230764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nifor">
  <a:themeElements>
    <a:clrScheme name="Simple Light">
      <a:dk1>
        <a:srgbClr val="004AF7"/>
      </a:dk1>
      <a:lt1>
        <a:srgbClr val="E4F2FE"/>
      </a:lt1>
      <a:dk2>
        <a:srgbClr val="132190"/>
      </a:dk2>
      <a:lt2>
        <a:srgbClr val="87B7FE"/>
      </a:lt2>
      <a:accent1>
        <a:srgbClr val="004AF7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4AF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9</Slides>
  <Notes>4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Unifor</vt:lpstr>
      <vt:lpstr>Apresentação do PowerPoint</vt:lpstr>
      <vt:lpstr>Movimentos do Cavalo</vt:lpstr>
      <vt:lpstr>Movimentos do Cavalo Grupo H - Problema F </vt:lpstr>
      <vt:lpstr>Problema</vt:lpstr>
      <vt:lpstr>Apresentação do PowerPoint</vt:lpstr>
      <vt:lpstr>Representação Computacional</vt:lpstr>
      <vt:lpstr>DFS</vt:lpstr>
      <vt:lpstr>Validação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286</cp:revision>
  <dcterms:modified xsi:type="dcterms:W3CDTF">2026-09-16T12:39:01Z</dcterms:modified>
</cp:coreProperties>
</file>